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320" r:id="rId3"/>
    <p:sldId id="318" r:id="rId4"/>
    <p:sldId id="319" r:id="rId5"/>
    <p:sldId id="321" r:id="rId6"/>
    <p:sldId id="322" r:id="rId7"/>
    <p:sldId id="323" r:id="rId8"/>
    <p:sldId id="324" r:id="rId9"/>
    <p:sldId id="325" r:id="rId10"/>
    <p:sldId id="317" r:id="rId11"/>
    <p:sldId id="288" r:id="rId12"/>
    <p:sldId id="289" r:id="rId13"/>
    <p:sldId id="290" r:id="rId14"/>
    <p:sldId id="291" r:id="rId15"/>
    <p:sldId id="292" r:id="rId16"/>
    <p:sldId id="330" r:id="rId17"/>
    <p:sldId id="338" r:id="rId18"/>
    <p:sldId id="316" r:id="rId19"/>
    <p:sldId id="297" r:id="rId20"/>
    <p:sldId id="309" r:id="rId21"/>
    <p:sldId id="339" r:id="rId22"/>
    <p:sldId id="315" r:id="rId23"/>
    <p:sldId id="298" r:id="rId24"/>
    <p:sldId id="313" r:id="rId25"/>
    <p:sldId id="336" r:id="rId26"/>
    <p:sldId id="337" r:id="rId27"/>
    <p:sldId id="310" r:id="rId28"/>
    <p:sldId id="282" r:id="rId29"/>
    <p:sldId id="332" r:id="rId30"/>
    <p:sldId id="311" r:id="rId31"/>
    <p:sldId id="312" r:id="rId32"/>
    <p:sldId id="326" r:id="rId33"/>
    <p:sldId id="284" r:id="rId34"/>
    <p:sldId id="285" r:id="rId35"/>
    <p:sldId id="286" r:id="rId36"/>
    <p:sldId id="287" r:id="rId37"/>
    <p:sldId id="327" r:id="rId38"/>
    <p:sldId id="283" r:id="rId39"/>
    <p:sldId id="293" r:id="rId40"/>
    <p:sldId id="294" r:id="rId41"/>
    <p:sldId id="299" r:id="rId42"/>
    <p:sldId id="300" r:id="rId43"/>
    <p:sldId id="329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14" r:id="rId53"/>
    <p:sldId id="335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70" autoAdjust="0"/>
    <p:restoredTop sz="94660"/>
  </p:normalViewPr>
  <p:slideViewPr>
    <p:cSldViewPr snapToGrid="0">
      <p:cViewPr varScale="1">
        <p:scale>
          <a:sx n="81" d="100"/>
          <a:sy n="81" d="100"/>
        </p:scale>
        <p:origin x="69" y="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6111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123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4179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6625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970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6377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091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0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553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633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51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46428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33174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549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187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316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223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4210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084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2643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563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83449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1472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3239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88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835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574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E4C6A-57E4-482B-B666-191EAA55F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E12590-9335-D3F5-FABD-870E705ED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409D3-523F-4733-BA94-E9A4DD346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5B37A-BE99-D6AB-4C92-6EBA22AD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AB259-C23B-678A-0435-04410CA4F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853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09AC7-4080-07BC-E69E-755FBCAB5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D0F3C-C0A4-1A10-17C3-4E8B1C902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9E896-2C90-D8D0-4F77-66D187355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86330-075D-47D2-B71A-E3FD629B8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46E68-675B-38CF-A49C-EC94E5874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658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26A3E6CD-9D97-4F1F-9572-2009171BBBAF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1267D30D-FD44-47FD-B61F-5D274238F7D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50090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49" r:id="rId29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mdbapi.com/" TargetMode="External"/><Relationship Id="rId2" Type="http://schemas.openxmlformats.org/officeDocument/2006/relationships/hyperlink" Target="http://www.omdb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31F66-20FF-3936-DD3A-647830C6B9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Capstone 2</a:t>
            </a:r>
            <a:br>
              <a:rPr lang="en-US" dirty="0"/>
            </a:br>
            <a:r>
              <a:rPr lang="en-US" dirty="0"/>
              <a:t>Star Trek: The Next Generation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2752D-1550-84DE-A861-7540CC5E15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Alanna Epstein</a:t>
            </a:r>
          </a:p>
        </p:txBody>
      </p:sp>
    </p:spTree>
    <p:extLst>
      <p:ext uri="{BB962C8B-B14F-4D97-AF65-F5344CB8AC3E}">
        <p14:creationId xmlns:p14="http://schemas.microsoft.com/office/powerpoint/2010/main" val="2327654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2B8FD-D6AE-76BD-83DE-952901579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Open Movie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9847F-268F-061C-9BD1-EA8C058A4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www.omdb.org</a:t>
            </a:r>
            <a:endParaRPr lang="en-US" dirty="0"/>
          </a:p>
          <a:p>
            <a:r>
              <a:rPr lang="en-US" dirty="0"/>
              <a:t>“a free database for film media. There is no set editorial staff, but rather a large number of movie addicts and lovers who volunteer their time to provide material and develop the site. Anybody can add or change existing information on </a:t>
            </a:r>
            <a:r>
              <a:rPr lang="en-US" dirty="0" err="1"/>
              <a:t>omdb</a:t>
            </a:r>
            <a:r>
              <a:rPr lang="en-US" dirty="0"/>
              <a:t> once they have done the quick and simple task of signing up for their user login name.”</a:t>
            </a:r>
          </a:p>
          <a:p>
            <a:r>
              <a:rPr lang="en-US" dirty="0"/>
              <a:t>API instructions and documentation at: </a:t>
            </a:r>
            <a:r>
              <a:rPr lang="en-US" dirty="0">
                <a:hlinkClick r:id="rId3"/>
              </a:rPr>
              <a:t>https://www.omdbapi.com/</a:t>
            </a:r>
            <a:endParaRPr lang="en-US" dirty="0"/>
          </a:p>
          <a:p>
            <a:pPr lvl="1"/>
            <a:r>
              <a:rPr lang="en-US" dirty="0"/>
              <a:t>Obtained API key for free with email</a:t>
            </a:r>
          </a:p>
          <a:p>
            <a:pPr lvl="1"/>
            <a:r>
              <a:rPr lang="en-US" dirty="0"/>
              <a:t>Documentation for input required: either a search term or an </a:t>
            </a:r>
            <a:r>
              <a:rPr lang="en-US" dirty="0" err="1"/>
              <a:t>iMDB</a:t>
            </a:r>
            <a:r>
              <a:rPr lang="en-US" dirty="0"/>
              <a:t> ID number (e.g. tt1285016)</a:t>
            </a:r>
          </a:p>
          <a:p>
            <a:r>
              <a:rPr lang="en-US" dirty="0"/>
              <a:t>Data limitations:</a:t>
            </a:r>
          </a:p>
          <a:p>
            <a:pPr lvl="1"/>
            <a:r>
              <a:rPr lang="en-US" dirty="0"/>
              <a:t>Retrospective (show aired 1987 to 1994)</a:t>
            </a:r>
          </a:p>
          <a:p>
            <a:pPr lvl="1"/>
            <a:r>
              <a:rPr lang="en-US" dirty="0"/>
              <a:t>Unknown date</a:t>
            </a:r>
          </a:p>
        </p:txBody>
      </p:sp>
    </p:spTree>
    <p:extLst>
      <p:ext uri="{BB962C8B-B14F-4D97-AF65-F5344CB8AC3E}">
        <p14:creationId xmlns:p14="http://schemas.microsoft.com/office/powerpoint/2010/main" val="3210290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CB9181-53C8-8EDC-9FFE-E8F4537F7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Open Movie Database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C5911B-A3CD-0FD9-7245-047BC8592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523" y="2096504"/>
            <a:ext cx="5666139" cy="441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523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6523C-D7F6-9939-2112-38F1B2402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DFC974-ECB8-93CA-A4FC-B6CD144D1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719" y="423700"/>
            <a:ext cx="6082727" cy="601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102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F5F1-ECFA-4E26-4B03-C9AED98B6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Industry Standard Analyses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C68DF-5C35-50E0-5B85-CB603976C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combinations of rating (1 to 10 stars) and engagement data (number of ratings)</a:t>
            </a:r>
          </a:p>
          <a:p>
            <a:r>
              <a:rPr lang="en-US" dirty="0"/>
              <a:t>Trends within seasons and across seasons</a:t>
            </a:r>
          </a:p>
          <a:p>
            <a:r>
              <a:rPr lang="en-US" dirty="0"/>
              <a:t>Examining association between rating and engagement</a:t>
            </a:r>
          </a:p>
          <a:p>
            <a:pPr lvl="1"/>
            <a:r>
              <a:rPr lang="en-US" dirty="0"/>
              <a:t>Controversial, hidden gems, universally acclaimed</a:t>
            </a:r>
          </a:p>
          <a:p>
            <a:r>
              <a:rPr lang="en-US" dirty="0"/>
              <a:t>Predict rating, engagement, and rating weighted by engagement from show features</a:t>
            </a:r>
          </a:p>
          <a:p>
            <a:pPr lvl="1"/>
            <a:r>
              <a:rPr lang="en-US" dirty="0"/>
              <a:t>Writer, Director, Actor, Description</a:t>
            </a:r>
          </a:p>
          <a:p>
            <a:r>
              <a:rPr lang="en-US" dirty="0"/>
              <a:t>Star Trek provides enough episodes and public access</a:t>
            </a:r>
          </a:p>
          <a:p>
            <a:pPr lvl="1"/>
            <a:r>
              <a:rPr lang="en-US" dirty="0"/>
              <a:t>7 seasons, 176 episodes</a:t>
            </a:r>
          </a:p>
        </p:txBody>
      </p:sp>
    </p:spTree>
    <p:extLst>
      <p:ext uri="{BB962C8B-B14F-4D97-AF65-F5344CB8AC3E}">
        <p14:creationId xmlns:p14="http://schemas.microsoft.com/office/powerpoint/2010/main" val="2184949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701A6-D6D8-2104-5F83-BE2ECD13F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scraping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07C7D0-2238-6086-6741-F9B021AC1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531" y="2070265"/>
            <a:ext cx="6351018" cy="399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140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89468-C1B6-DF4A-C5DC-E60628EF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fields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5431ED-7AE8-4369-2634-323332CF23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8543" y="2139950"/>
            <a:ext cx="4398051" cy="428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862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9E7C0-7B85-ED8D-4944-26D09FE5A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of interest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03192-CACC-5C98-709E-F9A8017E2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Episode order number</a:t>
            </a:r>
          </a:p>
          <a:p>
            <a:r>
              <a:rPr lang="en-US" dirty="0" err="1"/>
              <a:t>imdbRating</a:t>
            </a:r>
            <a:endParaRPr lang="en-US" dirty="0"/>
          </a:p>
          <a:p>
            <a:r>
              <a:rPr lang="en-US" dirty="0" err="1"/>
              <a:t>imdbVotes</a:t>
            </a:r>
            <a:endParaRPr lang="en-US" dirty="0"/>
          </a:p>
          <a:p>
            <a:r>
              <a:rPr lang="en-US" dirty="0"/>
              <a:t>Director</a:t>
            </a:r>
          </a:p>
          <a:p>
            <a:r>
              <a:rPr lang="en-US" dirty="0"/>
              <a:t>Writer</a:t>
            </a:r>
          </a:p>
          <a:p>
            <a:r>
              <a:rPr lang="en-US" dirty="0"/>
              <a:t>(“Actors” data was zero variance)</a:t>
            </a:r>
          </a:p>
        </p:txBody>
      </p:sp>
    </p:spTree>
    <p:extLst>
      <p:ext uri="{BB962C8B-B14F-4D97-AF65-F5344CB8AC3E}">
        <p14:creationId xmlns:p14="http://schemas.microsoft.com/office/powerpoint/2010/main" val="4102340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1C286-F3ED-B93A-9F33-3B56C3B60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1FF6D-32A9-AE78-59A7-CD1F635E9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missing cells = 12</a:t>
            </a:r>
          </a:p>
          <a:p>
            <a:r>
              <a:rPr lang="en-US" dirty="0"/>
              <a:t>Input from </a:t>
            </a:r>
            <a:r>
              <a:rPr lang="en-US" dirty="0" err="1"/>
              <a:t>imdb</a:t>
            </a:r>
            <a:r>
              <a:rPr lang="en-US" dirty="0"/>
              <a:t> search</a:t>
            </a:r>
          </a:p>
          <a:p>
            <a:pPr lvl="1"/>
            <a:r>
              <a:rPr lang="en-US" dirty="0"/>
              <a:t>6 </a:t>
            </a:r>
            <a:r>
              <a:rPr lang="en-US" dirty="0" err="1"/>
              <a:t>Imdb</a:t>
            </a:r>
            <a:r>
              <a:rPr lang="en-US" dirty="0"/>
              <a:t> ratings</a:t>
            </a:r>
          </a:p>
          <a:p>
            <a:pPr lvl="1"/>
            <a:r>
              <a:rPr lang="en-US" dirty="0"/>
              <a:t>4 writers</a:t>
            </a:r>
          </a:p>
          <a:p>
            <a:pPr lvl="1"/>
            <a:r>
              <a:rPr lang="en-US" dirty="0"/>
              <a:t>2 directors</a:t>
            </a:r>
          </a:p>
        </p:txBody>
      </p:sp>
    </p:spTree>
    <p:extLst>
      <p:ext uri="{BB962C8B-B14F-4D97-AF65-F5344CB8AC3E}">
        <p14:creationId xmlns:p14="http://schemas.microsoft.com/office/powerpoint/2010/main" val="1362649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7CFBB-6172-6842-9763-9B0061BC4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Ratings and engagement trends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74ED5D-050B-BEBC-4B77-A8AB1578F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74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25DB-D285-4296-AA57-DC368D121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8D3A7-B539-1612-5ADD-B6101E4B2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2A2BD0-487E-EF27-1FF4-0A17CE2AC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626" y="685620"/>
            <a:ext cx="9874747" cy="555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76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16327-7781-6AC0-B69B-DB5133028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D1D4B-7BC4-D455-A4D0-2E72D49ED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46A26C-1B26-4402-AE67-2ACBB8761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548" y="1284727"/>
            <a:ext cx="7863856" cy="428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151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DC46E-5B34-A7BB-8D32-0B1004A4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C8069-D360-1C27-32E6-5A34C4A4C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951827-F26B-04D2-EFF8-31BFE0EF4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988" y="1284727"/>
            <a:ext cx="7680975" cy="428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200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6FBAD-FAFE-85A7-529A-E9043311C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A27B5-7604-D208-8E0B-E22B5E5A3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42A8E6-DE4A-2C27-CEE9-F5E95D9C9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32" y="1284727"/>
            <a:ext cx="7434087" cy="428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856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72D86-98E7-71BF-77CA-C991B3376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57455-DBFA-4F07-2521-3B35909DC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C8600C-190E-2896-C5F1-DA3FD4DC5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0" y="1284727"/>
            <a:ext cx="8220472" cy="428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653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237F8-6549-7DF4-1C01-1D43F827F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 season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5B321-1458-4BF9-88FB-8707C36F2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22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B5F4F-ACBC-FDD3-AD89-6F9730DF1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0BA59-A77A-36A4-F07D-9789414D9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26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EBE99-E098-7924-619A-6E7A95DAE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2B777-63E4-8526-983C-249A8B2EC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162967-ABA7-32F8-8615-CD33C3570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19" y="1220719"/>
            <a:ext cx="8997714" cy="441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144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16BE9-8A32-5EB1-2506-1AA698FB9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D5B74-97B9-121F-5234-671EAA2B3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947274-3D0C-996E-FCAE-5C1D27648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583" y="1357880"/>
            <a:ext cx="5065786" cy="414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171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569A8-CF70-0269-87E8-63B733208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8E1E1-31B9-6308-E286-F3164E95C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3FD4D9-E00F-3992-D294-F6D7E0A90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791" y="857250"/>
            <a:ext cx="890336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870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55D26-8FD9-71C9-459C-099D17D8C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BD9BB-9029-8B36-ABA7-31170D5FA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387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FADA2-3050-EFCE-A1B9-4906F0690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089B3-8E8A-8A38-D39C-AE7AE9898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440362-FA68-B187-9362-ECF8B9992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19" y="1220719"/>
            <a:ext cx="8997714" cy="441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5153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19A8D-83CE-197C-69FB-D6C99E189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C952-6AE0-8278-2722-2C5D2104A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513076-82A5-0899-8847-C660B5057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38" y="1357880"/>
            <a:ext cx="5312675" cy="414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313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687E4-1E8B-A14B-7FC6-53D153B12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66FCC-69DB-1635-CBAD-4CAED3542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51AA78-4B65-7421-430C-C1721E3C6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72" y="622057"/>
            <a:ext cx="10050456" cy="580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36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FAC9F-2CFB-D682-5BF0-0FC8C0B35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WITHIN-SEASON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FA0F8-03DD-378C-569E-CE7A4AB71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022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E277C-C29E-5F71-CB8F-383D97140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536C5-E7D2-8C25-FB78-EA163E0EC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9374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07AB2-4545-0904-7700-8289E8A9D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76C32-911E-E18E-BAA3-1530F736C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3BBCFB-B54C-8BF9-CC56-DB455D6A4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59" y="928967"/>
            <a:ext cx="11444444" cy="500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8311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841FBE6-9DB2-8B0D-525A-7C28E8306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339AD-9BDE-56A8-01B1-4267ADDD5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OLS regression:</a:t>
            </a:r>
          </a:p>
          <a:p>
            <a:r>
              <a:rPr lang="en-US" dirty="0"/>
              <a:t>Linear trend not significant</a:t>
            </a:r>
          </a:p>
          <a:p>
            <a:r>
              <a:rPr lang="en-US" dirty="0"/>
              <a:t>Quadratic trend significant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2C6584-D10C-19AC-B583-275FF3A21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876" y="429768"/>
            <a:ext cx="6139507" cy="615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0195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EC87E-DCA9-0B01-920A-11D6819F3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BE11E-A268-40C2-3AD8-945314443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3763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ED439-9D53-0443-3308-FBF54356A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48711-D9FE-CD50-8B32-81C6B439D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F8A763-2501-0585-7FB4-A7CAB25E5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59" y="963073"/>
            <a:ext cx="11569659" cy="505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429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451A0-5B56-E6CA-9F46-7BE5D4731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B2B51-B03F-1E76-B948-334A88AFF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2313226" cy="4288536"/>
          </a:xfrm>
        </p:spPr>
        <p:txBody>
          <a:bodyPr/>
          <a:lstStyle/>
          <a:p>
            <a:r>
              <a:rPr lang="en-US" dirty="0"/>
              <a:t>Linear = significant</a:t>
            </a:r>
          </a:p>
          <a:p>
            <a:r>
              <a:rPr lang="en-US" dirty="0"/>
              <a:t>Quadratic = not significant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2BAC06-5588-33E7-40B1-F061B5224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194" y="857250"/>
            <a:ext cx="888080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3876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EAF0-4970-DF6E-D387-9CE0A747A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season finale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C8E909-BD18-C78D-A7C9-B70861CBB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984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7F48E6-E8F5-16AC-120B-143EB07AE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3E356CD-0063-0A6A-E49D-B9853EA7C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39C9AF-6EF9-D1A4-2F37-3C4336D82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864" y="806899"/>
            <a:ext cx="10632078" cy="524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2022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232765-574E-FA21-113C-14A204080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69D087-E487-0FE1-582D-2090745CA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E86A81-FC09-013D-67F4-0A1094E4F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990" y="857250"/>
            <a:ext cx="690497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0510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55284D-708D-E0EB-035D-F5325E9C7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0975AD-3189-8CA7-5947-DA11596F5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461F20-248B-15F1-0473-490AAB908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619" y="1172549"/>
            <a:ext cx="9141714" cy="451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790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BDD6BF5-0404-1E7B-4450-74B990AE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5C98893-6E4B-B224-0D77-9F0A6A7AF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156280-7277-6468-E2D9-5BBAF8D05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990" y="857250"/>
            <a:ext cx="690497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814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A0A18A-066F-20FF-F217-22673B3F0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Ratings vs engagement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AC134E-1C37-E349-49F0-A2A3EC1575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254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C7E0B-E9F5-B69C-B0DE-DD4C1C274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A5EC9-7DAB-985E-4DED-CC7C22E25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746A61-FD90-1E8C-007D-22F8EC19C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58" y="782083"/>
            <a:ext cx="10746283" cy="529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884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22D1E-7AFB-D2A2-A8C0-B871C5E8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DA750-5D82-92E4-6875-1D9E7D2F1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E27A56-D4F2-A98F-C255-A2C6D84FD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514" y="612648"/>
            <a:ext cx="8938971" cy="579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7410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02B8-90E7-BF80-8833-0E6925641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9BFC5-A187-3E31-889B-32B894FF8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E3DC80-798D-59F7-3E7B-91B74FF1B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540" y="612648"/>
            <a:ext cx="8295491" cy="564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251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46F2D-32E9-CCA7-29EE-65D21F14A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5EDE4-2778-7FB9-AB6E-5B28E279D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7B5D90-620C-C2FD-1559-E3A316325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901" y="857250"/>
            <a:ext cx="87931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9714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4BA42-F5B7-FFD9-7AED-E433D34F8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E352F-21BE-064C-3658-F42523616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64235E-5C00-AE79-4A0D-E6965F4BD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901" y="857250"/>
            <a:ext cx="87931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019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99EB1E-43AC-C848-B4AF-27F0CA6B4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Writers and directors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D51DEC-D5F2-DC82-5898-6125EBA2F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6803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C70AE-EA00-7D2E-1712-BF7FCFB3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6DE4E-7E48-1389-4AB6-AEFA77354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8E9406-C3CC-E0A0-3D80-A31225C2F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526" y="857250"/>
            <a:ext cx="86219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8539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EC82C-D6C7-5C26-00F0-2894F781D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6E61E-C140-C317-1932-28F6E364A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1ED7FC-0EDA-DB8D-BD3C-F67C51F01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526" y="857250"/>
            <a:ext cx="86219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3394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07772-D027-6A22-8412-2283FB107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7E973-9FFD-C9EA-5F41-081C41662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8E6ACC-8FF8-368B-597A-702DD5156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167" y="857250"/>
            <a:ext cx="863061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7585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8D477-AFD1-DE19-2FBC-613A7C18D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4BC73-1358-96A3-A3C1-645F831E5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5FA0DC-F3D8-933E-3722-DB2EEE057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526" y="857250"/>
            <a:ext cx="86219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2902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B3CD-121E-E5AA-4DBD-D288A43A2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477E1-AC19-519D-CEB3-A13D489C2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3B6E5B-6D26-D219-0E0F-EF2EA1C85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167" y="857250"/>
            <a:ext cx="863061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372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45C8-6F37-A044-2BAA-4500ED02F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DE815-1DAD-6869-5F6A-EBB3336CC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A7C720-B487-6DC2-127C-1D1065DFB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167" y="857250"/>
            <a:ext cx="863061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7492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0B5F0-A66D-1715-D6F8-8BB10664A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9EDB7-858F-C208-EA49-177BB3727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378647-0BB7-5409-A1F7-EB82A826E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619" y="1174455"/>
            <a:ext cx="9141714" cy="450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2771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42BFA-0115-347B-511D-30A318BE7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9ABCC-9E49-7C46-2EB8-F00AEBFE8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AA6B3F-FAB9-34B3-13C8-406F6272C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619" y="1174455"/>
            <a:ext cx="9141714" cy="450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6701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B097AB-0CEE-A5D4-572E-3BA0CA5A1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4E28D8-24A8-145D-E5FB-AE754689B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1EB489-354B-E7B5-A4BF-60C4539FA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351" y="857250"/>
            <a:ext cx="8858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6555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88273-D078-4416-86A7-66C4FFA97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08301-1CBC-394E-3AD9-DEDDB0058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Engagement follows expected positively skewed distribution (required log transformation)</a:t>
            </a:r>
          </a:p>
          <a:p>
            <a:r>
              <a:rPr lang="en-US" dirty="0"/>
              <a:t>Engagement and rating have expected positive relationship</a:t>
            </a:r>
          </a:p>
          <a:p>
            <a:r>
              <a:rPr lang="en-US" dirty="0"/>
              <a:t>Trends over the show</a:t>
            </a:r>
          </a:p>
          <a:p>
            <a:pPr lvl="1"/>
            <a:r>
              <a:rPr lang="en-US" dirty="0"/>
              <a:t>Declining engagement</a:t>
            </a:r>
          </a:p>
          <a:p>
            <a:pPr lvl="1"/>
            <a:r>
              <a:rPr lang="en-US" dirty="0"/>
              <a:t>Rising then falling ratings</a:t>
            </a:r>
          </a:p>
          <a:p>
            <a:r>
              <a:rPr lang="en-US" dirty="0"/>
              <a:t>Trends within seasons</a:t>
            </a:r>
          </a:p>
          <a:p>
            <a:pPr lvl="1"/>
            <a:r>
              <a:rPr lang="en-US" dirty="0"/>
              <a:t>No overall effect</a:t>
            </a:r>
          </a:p>
          <a:p>
            <a:pPr lvl="1"/>
            <a:r>
              <a:rPr lang="en-US" dirty="0"/>
              <a:t>Season finale effect – both ratings and engagement</a:t>
            </a:r>
          </a:p>
          <a:p>
            <a:r>
              <a:rPr lang="en-US" dirty="0"/>
              <a:t>Identified “controversial” and “hidden gem” episodes</a:t>
            </a:r>
          </a:p>
          <a:p>
            <a:r>
              <a:rPr lang="en-US" dirty="0"/>
              <a:t>Writer and Director features have too much variance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822225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11520</TotalTime>
  <Words>357</Words>
  <Application>Microsoft Office PowerPoint</Application>
  <PresentationFormat>Widescreen</PresentationFormat>
  <Paragraphs>64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Aptos</vt:lpstr>
      <vt:lpstr>Arial</vt:lpstr>
      <vt:lpstr>Haettenschweiler</vt:lpstr>
      <vt:lpstr>Trade Gothic Next Light</vt:lpstr>
      <vt:lpstr>Editorial</vt:lpstr>
      <vt:lpstr>Capstone 2 Star Trek: The Next Generation Analysis</vt:lpstr>
      <vt:lpstr> Open Movie Database</vt:lpstr>
      <vt:lpstr> Open Movie Database</vt:lpstr>
      <vt:lpstr>PowerPoint Presentation</vt:lpstr>
      <vt:lpstr>Industry Standard Analyses</vt:lpstr>
      <vt:lpstr>Data scraping</vt:lpstr>
      <vt:lpstr>All fields</vt:lpstr>
      <vt:lpstr>Variables of interest</vt:lpstr>
      <vt:lpstr>Data cleaning</vt:lpstr>
      <vt:lpstr>Ratings and engagement trends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By season</vt:lpstr>
      <vt:lpstr>ratings</vt:lpstr>
      <vt:lpstr>PowerPoint Presentation</vt:lpstr>
      <vt:lpstr>PowerPoint Presentation</vt:lpstr>
      <vt:lpstr>PowerPoint Presentation</vt:lpstr>
      <vt:lpstr>engagement</vt:lpstr>
      <vt:lpstr>PowerPoint Presentation</vt:lpstr>
      <vt:lpstr>PowerPoint Presentation</vt:lpstr>
      <vt:lpstr>PowerPoint Presentation</vt:lpstr>
      <vt:lpstr>WITHIN-SEASON PATTERNS</vt:lpstr>
      <vt:lpstr>RATINGS</vt:lpstr>
      <vt:lpstr>PowerPoint Presentation</vt:lpstr>
      <vt:lpstr>PowerPoint Presentation</vt:lpstr>
      <vt:lpstr>engagement</vt:lpstr>
      <vt:lpstr>PowerPoint Presentation</vt:lpstr>
      <vt:lpstr>PowerPoint Presentation</vt:lpstr>
      <vt:lpstr>Effect of season finale</vt:lpstr>
      <vt:lpstr>PowerPoint Presentation</vt:lpstr>
      <vt:lpstr>PowerPoint Presentation</vt:lpstr>
      <vt:lpstr>PowerPoint Presentation</vt:lpstr>
      <vt:lpstr>PowerPoint Presentation</vt:lpstr>
      <vt:lpstr>Ratings vs engagement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Writers and directors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Alanna Epstein</dc:creator>
  <cp:lastModifiedBy>Alanna Epstein</cp:lastModifiedBy>
  <cp:revision>7</cp:revision>
  <dcterms:created xsi:type="dcterms:W3CDTF">2026-08-04T20:38:59Z</dcterms:created>
  <dcterms:modified xsi:type="dcterms:W3CDTF">2026-09-11T15:02:37Z</dcterms:modified>
</cp:coreProperties>
</file>